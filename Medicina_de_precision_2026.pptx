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6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3" r:id="rId12"/>
    <p:sldId id="268" r:id="rId13"/>
  </p:sldIdLst>
  <p:sldSz cx="9144000" cy="6858000" type="screen4x3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68" autoAdjust="0"/>
  </p:normalViewPr>
  <p:slideViewPr>
    <p:cSldViewPr>
      <p:cViewPr varScale="1">
        <p:scale>
          <a:sx n="83" d="100"/>
          <a:sy n="83" d="100"/>
        </p:scale>
        <p:origin x="96" y="15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B4028-8A7E-4841-AC01-1CEC4D749831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BB55E-1B9C-4181-92BB-D990C0379A1C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552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D7CC-C945-4E2A-9A04-54221A7922DE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8F0D-EA1B-4E77-8224-DE8070109DC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0623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D7CC-C945-4E2A-9A04-54221A7922DE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8F0D-EA1B-4E77-8224-DE8070109DC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991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D7CC-C945-4E2A-9A04-54221A7922DE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8F0D-EA1B-4E77-8224-DE8070109DC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8318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D7CC-C945-4E2A-9A04-54221A7922DE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8F0D-EA1B-4E77-8224-DE8070109DC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8239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D7CC-C945-4E2A-9A04-54221A7922DE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8F0D-EA1B-4E77-8224-DE8070109DC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6753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D7CC-C945-4E2A-9A04-54221A7922DE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8F0D-EA1B-4E77-8224-DE8070109DC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792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D7CC-C945-4E2A-9A04-54221A7922DE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8F0D-EA1B-4E77-8224-DE8070109DC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0862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D7CC-C945-4E2A-9A04-54221A7922DE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8F0D-EA1B-4E77-8224-DE8070109DC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6341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D7CC-C945-4E2A-9A04-54221A7922DE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8F0D-EA1B-4E77-8224-DE8070109DC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0801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D7CC-C945-4E2A-9A04-54221A7922DE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8F0D-EA1B-4E77-8224-DE8070109DC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2367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D7CC-C945-4E2A-9A04-54221A7922DE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8F0D-EA1B-4E77-8224-DE8070109DC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3539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BD7CC-C945-4E2A-9A04-54221A7922DE}" type="datetimeFigureOut">
              <a:rPr lang="es-EC" smtClean="0"/>
              <a:t>4/10/2026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C8F0D-EA1B-4E77-8224-DE8070109DC5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03708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" y="-7063"/>
            <a:ext cx="9119125" cy="6863225"/>
          </a:xfrm>
          <a:prstGeom prst="rect">
            <a:avLst/>
          </a:prstGeom>
        </p:spPr>
      </p:pic>
      <p:sp>
        <p:nvSpPr>
          <p:cNvPr id="4" name="1 Título">
            <a:extLst>
              <a:ext uri="{FF2B5EF4-FFF2-40B4-BE49-F238E27FC236}">
                <a16:creationId xmlns:a16="http://schemas.microsoft.com/office/drawing/2014/main" id="{3E2783DB-6DF3-B43B-95EE-9637BEF22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6190456" cy="1470025"/>
          </a:xfrm>
        </p:spPr>
        <p:txBody>
          <a:bodyPr>
            <a:noAutofit/>
          </a:bodyPr>
          <a:lstStyle/>
          <a:p>
            <a:pPr algn="l"/>
            <a:r>
              <a:rPr lang="es-EC" sz="3400" dirty="0">
                <a:latin typeface="Montserrat Medium" panose="00000600000000000000" pitchFamily="2" charset="0"/>
              </a:rPr>
              <a:t>Medicina de Precisión</a:t>
            </a:r>
            <a:br>
              <a:rPr lang="es-EC" sz="3400" dirty="0">
                <a:latin typeface="Montserrat Medium" panose="00000600000000000000" pitchFamily="2" charset="0"/>
              </a:rPr>
            </a:br>
            <a:r>
              <a:rPr lang="es-EC" sz="3400" dirty="0">
                <a:latin typeface="Montserrat Medium" panose="00000600000000000000" pitchFamily="2" charset="0"/>
              </a:rPr>
              <a:t>en lesiones deportivas:</a:t>
            </a:r>
            <a:br>
              <a:rPr lang="es-EC" sz="3400" dirty="0">
                <a:latin typeface="Montserrat Medium" panose="00000600000000000000" pitchFamily="2" charset="0"/>
              </a:rPr>
            </a:br>
            <a:r>
              <a:rPr lang="es-EC" sz="3400" dirty="0">
                <a:latin typeface="Montserrat Medium" panose="00000600000000000000" pitchFamily="2" charset="0"/>
              </a:rPr>
              <a:t>De la genómica a la clínica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C248783C-564F-DBE5-0A5A-6CE9B692A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584" y="3960186"/>
            <a:ext cx="6400800" cy="1752600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es-EC" sz="2000" dirty="0">
                <a:latin typeface="Montserrat Medium" panose="00000600000000000000" pitchFamily="2" charset="0"/>
              </a:rPr>
              <a:t>Oscar Ortega-Recalde, MD, PhD</a:t>
            </a:r>
          </a:p>
          <a:p>
            <a:pPr algn="l">
              <a:spcBef>
                <a:spcPts val="0"/>
              </a:spcBef>
            </a:pPr>
            <a:r>
              <a:rPr lang="es-EC" sz="2000" dirty="0">
                <a:latin typeface="Montserrat Medium" panose="00000600000000000000" pitchFamily="2" charset="0"/>
              </a:rPr>
              <a:t>Profesor | Facultad de Medicina</a:t>
            </a:r>
          </a:p>
          <a:p>
            <a:pPr algn="l">
              <a:spcBef>
                <a:spcPts val="0"/>
              </a:spcBef>
            </a:pPr>
            <a:r>
              <a:rPr lang="es-EC" sz="2000" dirty="0">
                <a:latin typeface="Montserrat Medium" panose="00000600000000000000" pitchFamily="2" charset="0"/>
              </a:rPr>
              <a:t>Universidad Nacional de Colombia</a:t>
            </a:r>
          </a:p>
          <a:p>
            <a:pPr algn="l">
              <a:spcBef>
                <a:spcPts val="0"/>
              </a:spcBef>
            </a:pPr>
            <a:r>
              <a:rPr lang="es-EC" sz="2000" dirty="0">
                <a:latin typeface="Montserrat Medium" panose="00000600000000000000" pitchFamily="2" charset="0"/>
              </a:rPr>
              <a:t>Cuenca, Ecuador, Octubre 2026</a:t>
            </a:r>
          </a:p>
          <a:p>
            <a:pPr>
              <a:spcBef>
                <a:spcPts val="0"/>
              </a:spcBef>
            </a:pPr>
            <a:endParaRPr lang="es-EC" sz="2000" dirty="0">
              <a:latin typeface="Montserrat Medium" panose="00000600000000000000" pitchFamily="2" charset="0"/>
            </a:endParaRPr>
          </a:p>
        </p:txBody>
      </p:sp>
      <p:pic>
        <p:nvPicPr>
          <p:cNvPr id="7" name="Picture 6" descr="Archivo:Logotipo de la Universidad Nacional de Colombia.svg - Wikipedia, la  enciclopedia libre">
            <a:extLst>
              <a:ext uri="{FF2B5EF4-FFF2-40B4-BE49-F238E27FC236}">
                <a16:creationId xmlns:a16="http://schemas.microsoft.com/office/drawing/2014/main" id="{451BD1B1-7FEB-2DAD-9FDB-6041B304B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003" y="5181280"/>
            <a:ext cx="1063011" cy="10630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D7FC9E-7AD7-8B3D-2B36-949CAC0DA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118" y="5353895"/>
            <a:ext cx="2106587" cy="71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8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" y="-7063"/>
            <a:ext cx="9119125" cy="6863225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63098" y="1240136"/>
            <a:ext cx="6190456" cy="568091"/>
          </a:xfrm>
        </p:spPr>
        <p:txBody>
          <a:bodyPr>
            <a:noAutofit/>
          </a:bodyPr>
          <a:lstStyle/>
          <a:p>
            <a:pPr algn="l"/>
            <a:r>
              <a:rPr lang="es-EC" sz="3400" dirty="0">
                <a:latin typeface="Montserrat Medium" panose="00000600000000000000" pitchFamily="2" charset="0"/>
              </a:rPr>
              <a:t>Conflicto de intereses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63098" y="3055426"/>
            <a:ext cx="7161230" cy="1752600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es-EC" sz="2000" dirty="0">
                <a:latin typeface="Montserrat Medium" panose="00000600000000000000" pitchFamily="2" charset="0"/>
              </a:rPr>
              <a:t>Director científico en </a:t>
            </a:r>
            <a:r>
              <a:rPr lang="es-EC" sz="2000" dirty="0" err="1">
                <a:latin typeface="Montserrat Medium" panose="00000600000000000000" pitchFamily="2" charset="0"/>
              </a:rPr>
              <a:t>Biotecgen</a:t>
            </a:r>
            <a:r>
              <a:rPr lang="es-EC" sz="2000" dirty="0">
                <a:latin typeface="Montserrat Medium" panose="00000600000000000000" pitchFamily="2" charset="0"/>
              </a:rPr>
              <a:t> Colombia</a:t>
            </a:r>
          </a:p>
        </p:txBody>
      </p:sp>
      <p:pic>
        <p:nvPicPr>
          <p:cNvPr id="6" name="Picture 5" descr="Sharing social media symbol Royalty Free Vector Image">
            <a:extLst>
              <a:ext uri="{FF2B5EF4-FFF2-40B4-BE49-F238E27FC236}">
                <a16:creationId xmlns:a16="http://schemas.microsoft.com/office/drawing/2014/main" id="{CE78F75F-367A-C1B1-FC48-09C4752A4B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25"/>
          <a:stretch/>
        </p:blipFill>
        <p:spPr bwMode="auto">
          <a:xfrm>
            <a:off x="8059851" y="1240136"/>
            <a:ext cx="721051" cy="71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12,483,800+ Symbol Photos Stock Photos, Pictures &amp; Royalty-Free Images -  iStock">
            <a:extLst>
              <a:ext uri="{FF2B5EF4-FFF2-40B4-BE49-F238E27FC236}">
                <a16:creationId xmlns:a16="http://schemas.microsoft.com/office/drawing/2014/main" id="{A676549A-F5BB-6887-A491-A4260298BC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4" t="24401" r="13151" b="23660"/>
          <a:stretch/>
        </p:blipFill>
        <p:spPr bwMode="auto">
          <a:xfrm>
            <a:off x="6992749" y="1282402"/>
            <a:ext cx="951579" cy="67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15.800+ Visto Bueno Verde Ilustraciones de Stock, gráficos vectoriales  libres de derechos y clip art - iStock | Rugir, Espectadores cine">
            <a:extLst>
              <a:ext uri="{FF2B5EF4-FFF2-40B4-BE49-F238E27FC236}">
                <a16:creationId xmlns:a16="http://schemas.microsoft.com/office/drawing/2014/main" id="{A406491D-AC53-E6E0-8A8C-B6569FC1C5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2" b="7677"/>
          <a:stretch/>
        </p:blipFill>
        <p:spPr bwMode="auto">
          <a:xfrm>
            <a:off x="6226758" y="1344125"/>
            <a:ext cx="721051" cy="624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rchivo:Logotipo de la Universidad Nacional de Colombia.svg - Wikipedia, la  enciclopedia libre">
            <a:extLst>
              <a:ext uri="{FF2B5EF4-FFF2-40B4-BE49-F238E27FC236}">
                <a16:creationId xmlns:a16="http://schemas.microsoft.com/office/drawing/2014/main" id="{39CD421A-C26E-5400-2FBE-8419B55E11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003" y="5181280"/>
            <a:ext cx="1063011" cy="10630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442EBC-2A01-247B-5D5D-80709BD48E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1118" y="5353895"/>
            <a:ext cx="2106587" cy="71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10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E412-F2C7-B38B-C718-C035AE3E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>
            <a:extLst>
              <a:ext uri="{FF2B5EF4-FFF2-40B4-BE49-F238E27FC236}">
                <a16:creationId xmlns:a16="http://schemas.microsoft.com/office/drawing/2014/main" id="{40F2AC70-6188-5F93-AE57-5B2A3AE5AA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" y="-7063"/>
            <a:ext cx="9119125" cy="6863225"/>
          </a:xfrm>
          <a:prstGeom prst="rect">
            <a:avLst/>
          </a:prstGeom>
        </p:spPr>
      </p:pic>
      <p:sp>
        <p:nvSpPr>
          <p:cNvPr id="13" name="Google Shape;74;p4">
            <a:extLst>
              <a:ext uri="{FF2B5EF4-FFF2-40B4-BE49-F238E27FC236}">
                <a16:creationId xmlns:a16="http://schemas.microsoft.com/office/drawing/2014/main" id="{CE27FD5F-3F52-E49D-6686-E8407636AD90}"/>
              </a:ext>
            </a:extLst>
          </p:cNvPr>
          <p:cNvSpPr txBox="1">
            <a:spLocks/>
          </p:cNvSpPr>
          <p:nvPr/>
        </p:nvSpPr>
        <p:spPr>
          <a:xfrm>
            <a:off x="4762080" y="1716349"/>
            <a:ext cx="395805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SzPts val="1400"/>
              <a:buFont typeface="Arial" pitchFamily="34" charset="0"/>
              <a:buNone/>
            </a:pPr>
            <a:r>
              <a:rPr lang="es-ES" sz="1800" i="1" dirty="0">
                <a:latin typeface="Montserrat Medium" panose="00000600000000000000" pitchFamily="2" charset="0"/>
              </a:rPr>
              <a:t>“El progreso en la ciencia depende de nuevas técnicas, nuevos descubrimientos y nuevas ideas,</a:t>
            </a:r>
          </a:p>
          <a:p>
            <a:pPr marL="0" indent="0" algn="r">
              <a:spcBef>
                <a:spcPts val="0"/>
              </a:spcBef>
              <a:buSzPts val="1400"/>
              <a:buFont typeface="Arial" pitchFamily="34" charset="0"/>
              <a:buNone/>
            </a:pPr>
            <a:r>
              <a:rPr lang="es-ES" sz="1800" i="1" dirty="0">
                <a:latin typeface="Montserrat Medium" panose="00000600000000000000" pitchFamily="2" charset="0"/>
              </a:rPr>
              <a:t>probablemente en ese orden.”</a:t>
            </a:r>
          </a:p>
          <a:p>
            <a:pPr marL="0" indent="0" algn="r">
              <a:spcBef>
                <a:spcPts val="0"/>
              </a:spcBef>
              <a:buSzPts val="1400"/>
              <a:buFont typeface="Arial" pitchFamily="34" charset="0"/>
              <a:buNone/>
            </a:pPr>
            <a:endParaRPr lang="es-ES" sz="1800" dirty="0">
              <a:latin typeface="Montserrat Medium" panose="00000600000000000000" pitchFamily="2" charset="0"/>
            </a:endParaRPr>
          </a:p>
          <a:p>
            <a:pPr marL="0" indent="0" algn="r">
              <a:spcBef>
                <a:spcPts val="0"/>
              </a:spcBef>
              <a:buSzPts val="1400"/>
              <a:buFont typeface="Arial" pitchFamily="34" charset="0"/>
              <a:buNone/>
            </a:pPr>
            <a:r>
              <a:rPr lang="es-ES" sz="1800" dirty="0" err="1">
                <a:latin typeface="Montserrat Medium" panose="00000600000000000000" pitchFamily="2" charset="0"/>
              </a:rPr>
              <a:t>Sydney</a:t>
            </a:r>
            <a:r>
              <a:rPr lang="es-ES" sz="1800" dirty="0">
                <a:latin typeface="Montserrat Medium" panose="00000600000000000000" pitchFamily="2" charset="0"/>
              </a:rPr>
              <a:t> Brenner (1927-2019)</a:t>
            </a:r>
          </a:p>
          <a:p>
            <a:pPr marL="0" indent="0">
              <a:spcBef>
                <a:spcPts val="0"/>
              </a:spcBef>
              <a:buSzPts val="1400"/>
              <a:buFont typeface="Arial" pitchFamily="34" charset="0"/>
              <a:buNone/>
            </a:pPr>
            <a:endParaRPr lang="es-ES" sz="1800" dirty="0">
              <a:latin typeface="Montserrat Medium" panose="00000600000000000000" pitchFamily="2" charset="0"/>
            </a:endParaRPr>
          </a:p>
        </p:txBody>
      </p:sp>
      <p:pic>
        <p:nvPicPr>
          <p:cNvPr id="15" name="Picture 4" descr="next generation sequencing">
            <a:extLst>
              <a:ext uri="{FF2B5EF4-FFF2-40B4-BE49-F238E27FC236}">
                <a16:creationId xmlns:a16="http://schemas.microsoft.com/office/drawing/2014/main" id="{E39A59E5-6374-DA8B-4102-FE46B679B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989" y="-3358333"/>
            <a:ext cx="3958050" cy="302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E68E5B-6B42-7962-1EA8-710723988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68" y="1692088"/>
            <a:ext cx="4097163" cy="313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4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C17A5-D9C7-D924-8542-F78B6737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>
            <a:extLst>
              <a:ext uri="{FF2B5EF4-FFF2-40B4-BE49-F238E27FC236}">
                <a16:creationId xmlns:a16="http://schemas.microsoft.com/office/drawing/2014/main" id="{22A1C568-247A-02A2-1B86-B31A9CBADD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" y="-7063"/>
            <a:ext cx="9119125" cy="6863225"/>
          </a:xfrm>
          <a:prstGeom prst="rect">
            <a:avLst/>
          </a:prstGeom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3D2B5513-41CF-73DA-61A5-1913A0CD7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98" y="1240136"/>
            <a:ext cx="8780902" cy="568091"/>
          </a:xfrm>
        </p:spPr>
        <p:txBody>
          <a:bodyPr>
            <a:noAutofit/>
          </a:bodyPr>
          <a:lstStyle/>
          <a:p>
            <a:pPr algn="l"/>
            <a:r>
              <a:rPr lang="es-ES" sz="2800" dirty="0">
                <a:latin typeface="Montserrat Medium" panose="00000600000000000000" pitchFamily="2" charset="0"/>
              </a:rPr>
              <a:t>Misma lesión deportiva, mismo protocolo:</a:t>
            </a:r>
            <a:br>
              <a:rPr lang="es-ES" sz="2800" dirty="0">
                <a:latin typeface="Montserrat Medium" panose="00000600000000000000" pitchFamily="2" charset="0"/>
              </a:rPr>
            </a:br>
            <a:r>
              <a:rPr lang="es-ES" sz="2800" dirty="0">
                <a:latin typeface="Montserrat Medium" panose="00000600000000000000" pitchFamily="2" charset="0"/>
              </a:rPr>
              <a:t>¿por qué los resultados son distintos?</a:t>
            </a:r>
            <a:endParaRPr lang="es-EC" sz="2800" dirty="0">
              <a:latin typeface="Montserrat Medium" panose="000006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ED5DB-777B-1513-B5CD-45054C03115B}"/>
              </a:ext>
            </a:extLst>
          </p:cNvPr>
          <p:cNvSpPr txBox="1"/>
          <p:nvPr/>
        </p:nvSpPr>
        <p:spPr>
          <a:xfrm>
            <a:off x="922531" y="5375331"/>
            <a:ext cx="7294075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Montserrat Medium" panose="00000600000000000000" pitchFamily="2" charset="0"/>
              </a:rPr>
              <a:t>La variabilidad biológica individual tiene un sustrato molecular identificable y potencialmente modificable</a:t>
            </a:r>
            <a:endParaRPr lang="en-NZ" sz="2000" dirty="0">
              <a:latin typeface="Montserrat Medium" panose="00000600000000000000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036085-1E60-9392-0F67-A12DFE522E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00" r="39203"/>
          <a:stretch>
            <a:fillRect/>
          </a:stretch>
        </p:blipFill>
        <p:spPr>
          <a:xfrm>
            <a:off x="-6002" y="2149995"/>
            <a:ext cx="2326105" cy="27842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E5E70D6-4F50-DCB8-C064-A3D6EB89850B}"/>
              </a:ext>
            </a:extLst>
          </p:cNvPr>
          <p:cNvSpPr/>
          <p:nvPr/>
        </p:nvSpPr>
        <p:spPr>
          <a:xfrm>
            <a:off x="2280943" y="2080354"/>
            <a:ext cx="216024" cy="1440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noFill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E106435-3F1B-75E7-9AF3-32440C4479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950" r="20545"/>
          <a:stretch>
            <a:fillRect/>
          </a:stretch>
        </p:blipFill>
        <p:spPr>
          <a:xfrm>
            <a:off x="2450123" y="2191002"/>
            <a:ext cx="2036683" cy="28015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597DD1-8D67-296B-5AC7-B7AC56932E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3071" y="2314072"/>
            <a:ext cx="2126183" cy="25554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9C5B39-D474-F9FB-03B0-D05228C9BD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209"/>
          <a:stretch>
            <a:fillRect/>
          </a:stretch>
        </p:blipFill>
        <p:spPr>
          <a:xfrm>
            <a:off x="6863057" y="2232744"/>
            <a:ext cx="2153154" cy="270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2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2D00D-BC6A-582C-9F0D-1A4F28126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>
            <a:extLst>
              <a:ext uri="{FF2B5EF4-FFF2-40B4-BE49-F238E27FC236}">
                <a16:creationId xmlns:a16="http://schemas.microsoft.com/office/drawing/2014/main" id="{F86F1E1D-0169-A3CA-3879-D6115A21CE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" y="-7063"/>
            <a:ext cx="9119125" cy="6863225"/>
          </a:xfrm>
          <a:prstGeom prst="rect">
            <a:avLst/>
          </a:prstGeom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3B88A99F-7CA8-A0FF-BB10-42971CFD5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98" y="1240136"/>
            <a:ext cx="8780902" cy="568091"/>
          </a:xfrm>
        </p:spPr>
        <p:txBody>
          <a:bodyPr>
            <a:noAutofit/>
          </a:bodyPr>
          <a:lstStyle/>
          <a:p>
            <a:pPr algn="l"/>
            <a:r>
              <a:rPr lang="es-ES" sz="2800" dirty="0">
                <a:latin typeface="Montserrat Medium" panose="00000600000000000000" pitchFamily="2" charset="0"/>
              </a:rPr>
              <a:t>¿Qué es medicina de precisión en el deporte?</a:t>
            </a:r>
            <a:endParaRPr lang="es-EC" sz="2800" dirty="0">
              <a:latin typeface="Montserrat Medium" panose="00000600000000000000" pitchFamily="2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FC1095-64E9-395D-DD12-AFA89D073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185428"/>
              </p:ext>
            </p:extLst>
          </p:nvPr>
        </p:nvGraphicFramePr>
        <p:xfrm>
          <a:off x="1261161" y="2327269"/>
          <a:ext cx="6984776" cy="17526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3492388">
                  <a:extLst>
                    <a:ext uri="{9D8B030D-6E8A-4147-A177-3AD203B41FA5}">
                      <a16:colId xmlns:a16="http://schemas.microsoft.com/office/drawing/2014/main" val="1196123618"/>
                    </a:ext>
                  </a:extLst>
                </a:gridCol>
                <a:gridCol w="3492388">
                  <a:extLst>
                    <a:ext uri="{9D8B030D-6E8A-4147-A177-3AD203B41FA5}">
                      <a16:colId xmlns:a16="http://schemas.microsoft.com/office/drawing/2014/main" val="3129640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Montserrat Medium" panose="00000600000000000000" pitchFamily="2" charset="0"/>
                        </a:rPr>
                        <a:t>Medicina Tradicional</a:t>
                      </a:r>
                      <a:endParaRPr lang="en-NZ" sz="1800" dirty="0"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Montserrat Medium" panose="00000600000000000000" pitchFamily="2" charset="0"/>
                        </a:rPr>
                        <a:t>Medicina de Precisión</a:t>
                      </a:r>
                      <a:endParaRPr lang="en-NZ" sz="1800" dirty="0"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122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Montserrat Medium" panose="00000600000000000000" pitchFamily="2" charset="0"/>
                        </a:rPr>
                        <a:t>Mismo protocolo para todos</a:t>
                      </a:r>
                      <a:endParaRPr lang="en-NZ" sz="1800" dirty="0"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Montserrat Medium" panose="00000600000000000000" pitchFamily="2" charset="0"/>
                        </a:rPr>
                        <a:t>Perfil individual del paciente</a:t>
                      </a:r>
                      <a:endParaRPr lang="en-NZ" sz="1800" dirty="0"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237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Montserrat Medium" panose="00000600000000000000" pitchFamily="2" charset="0"/>
                        </a:rPr>
                        <a:t>Basada en promedios poblacionales</a:t>
                      </a:r>
                      <a:endParaRPr lang="en-NZ" sz="1800" dirty="0"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Montserrat Medium" panose="00000600000000000000" pitchFamily="2" charset="0"/>
                        </a:rPr>
                        <a:t>Basada en genómica y </a:t>
                      </a:r>
                      <a:r>
                        <a:rPr lang="es-CO" sz="1800" dirty="0" err="1">
                          <a:latin typeface="Montserrat Medium" panose="00000600000000000000" pitchFamily="2" charset="0"/>
                        </a:rPr>
                        <a:t>biomarcadadores</a:t>
                      </a:r>
                      <a:endParaRPr lang="en-NZ" sz="1800" dirty="0"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7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Montserrat Medium" panose="00000600000000000000" pitchFamily="2" charset="0"/>
                        </a:rPr>
                        <a:t>Reactiva</a:t>
                      </a:r>
                      <a:endParaRPr lang="en-NZ" sz="1800" dirty="0"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Montserrat Medium" panose="00000600000000000000" pitchFamily="2" charset="0"/>
                        </a:rPr>
                        <a:t>Predictiva y preventiva</a:t>
                      </a:r>
                      <a:endParaRPr lang="en-NZ" sz="1800" dirty="0"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9692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9779A7E2-1015-471F-8564-203251F2D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5343064"/>
            <a:ext cx="4047042" cy="278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0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D7914-1301-EE18-E0EF-A7D624E68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>
            <a:extLst>
              <a:ext uri="{FF2B5EF4-FFF2-40B4-BE49-F238E27FC236}">
                <a16:creationId xmlns:a16="http://schemas.microsoft.com/office/drawing/2014/main" id="{9D4AB356-D4C2-61B6-06EA-093D05AD0A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" y="-7063"/>
            <a:ext cx="9119125" cy="6863225"/>
          </a:xfrm>
          <a:prstGeom prst="rect">
            <a:avLst/>
          </a:prstGeom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893D269F-39C8-870E-EBA4-1BA832B17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98" y="1240136"/>
            <a:ext cx="8780902" cy="568091"/>
          </a:xfrm>
        </p:spPr>
        <p:txBody>
          <a:bodyPr>
            <a:noAutofit/>
          </a:bodyPr>
          <a:lstStyle/>
          <a:p>
            <a:pPr algn="l"/>
            <a:r>
              <a:rPr lang="es-ES" sz="2800" dirty="0">
                <a:latin typeface="Montserrat Medium" panose="00000600000000000000" pitchFamily="2" charset="0"/>
              </a:rPr>
              <a:t>Genómica aplicada a lesiones deportivas</a:t>
            </a:r>
            <a:endParaRPr lang="es-EC" sz="2800" dirty="0">
              <a:latin typeface="Montserrat Medium" panose="00000600000000000000" pitchFamily="2" charset="0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D05C8953-40C6-C39F-08AA-04E29F2ED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098" y="2179126"/>
            <a:ext cx="7161230" cy="1752600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es-EC" sz="2000" dirty="0">
                <a:solidFill>
                  <a:schemeClr val="tx1"/>
                </a:solidFill>
                <a:latin typeface="Montserrat Medium" panose="00000600000000000000" pitchFamily="2" charset="0"/>
              </a:rPr>
              <a:t>Director científico en </a:t>
            </a:r>
            <a:r>
              <a:rPr lang="es-EC" sz="2000" dirty="0" err="1">
                <a:solidFill>
                  <a:schemeClr val="tx1"/>
                </a:solidFill>
                <a:latin typeface="Montserrat Medium" panose="00000600000000000000" pitchFamily="2" charset="0"/>
              </a:rPr>
              <a:t>Biotecgen</a:t>
            </a:r>
            <a:r>
              <a:rPr lang="es-EC" sz="2000" dirty="0">
                <a:solidFill>
                  <a:schemeClr val="tx1"/>
                </a:solidFill>
                <a:latin typeface="Montserrat Medium" panose="00000600000000000000" pitchFamily="2" charset="0"/>
              </a:rPr>
              <a:t> Colombia</a:t>
            </a:r>
          </a:p>
        </p:txBody>
      </p:sp>
    </p:spTree>
    <p:extLst>
      <p:ext uri="{BB962C8B-B14F-4D97-AF65-F5344CB8AC3E}">
        <p14:creationId xmlns:p14="http://schemas.microsoft.com/office/powerpoint/2010/main" val="246199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C1FDD-7B45-0C44-4FE2-7B4768C8C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>
            <a:extLst>
              <a:ext uri="{FF2B5EF4-FFF2-40B4-BE49-F238E27FC236}">
                <a16:creationId xmlns:a16="http://schemas.microsoft.com/office/drawing/2014/main" id="{451CABFB-B1A2-F725-56DA-157175EF0D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" y="-7063"/>
            <a:ext cx="9119125" cy="6863225"/>
          </a:xfrm>
          <a:prstGeom prst="rect">
            <a:avLst/>
          </a:prstGeom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9FAF2942-9CC0-1DD3-DC14-46C83E043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98" y="1240136"/>
            <a:ext cx="8780902" cy="568091"/>
          </a:xfrm>
        </p:spPr>
        <p:txBody>
          <a:bodyPr>
            <a:noAutofit/>
          </a:bodyPr>
          <a:lstStyle/>
          <a:p>
            <a:pPr algn="l"/>
            <a:r>
              <a:rPr lang="es-ES" sz="2800" dirty="0">
                <a:latin typeface="Montserrat Medium" panose="00000600000000000000" pitchFamily="2" charset="0"/>
              </a:rPr>
              <a:t>Genómica aplicada a lesiones deportivas</a:t>
            </a:r>
            <a:endParaRPr lang="es-EC" sz="2800" dirty="0">
              <a:latin typeface="Montserrat Medium" panose="00000600000000000000" pitchFamily="2" charset="0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FA0372C4-53D0-50B9-E0F4-1D3A4D5B2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098" y="2179126"/>
            <a:ext cx="7161230" cy="1752600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es-EC" sz="2000" dirty="0">
                <a:solidFill>
                  <a:schemeClr val="tx1"/>
                </a:solidFill>
                <a:latin typeface="Montserrat Medium" panose="00000600000000000000" pitchFamily="2" charset="0"/>
              </a:rPr>
              <a:t>Director científico en </a:t>
            </a:r>
            <a:r>
              <a:rPr lang="es-EC" sz="2000" dirty="0" err="1">
                <a:solidFill>
                  <a:schemeClr val="tx1"/>
                </a:solidFill>
                <a:latin typeface="Montserrat Medium" panose="00000600000000000000" pitchFamily="2" charset="0"/>
              </a:rPr>
              <a:t>Biotecgen</a:t>
            </a:r>
            <a:r>
              <a:rPr lang="es-EC" sz="2000" dirty="0">
                <a:solidFill>
                  <a:schemeClr val="tx1"/>
                </a:solidFill>
                <a:latin typeface="Montserrat Medium" panose="00000600000000000000" pitchFamily="2" charset="0"/>
              </a:rPr>
              <a:t> Colombia</a:t>
            </a:r>
          </a:p>
        </p:txBody>
      </p:sp>
    </p:spTree>
    <p:extLst>
      <p:ext uri="{BB962C8B-B14F-4D97-AF65-F5344CB8AC3E}">
        <p14:creationId xmlns:p14="http://schemas.microsoft.com/office/powerpoint/2010/main" val="406671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EB830-08CE-183B-FFEA-E3EB2FCA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>
            <a:extLst>
              <a:ext uri="{FF2B5EF4-FFF2-40B4-BE49-F238E27FC236}">
                <a16:creationId xmlns:a16="http://schemas.microsoft.com/office/drawing/2014/main" id="{4DAFB33D-FCFE-8618-29FA-8D54305E9A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" y="-7063"/>
            <a:ext cx="9119125" cy="6863225"/>
          </a:xfrm>
          <a:prstGeom prst="rect">
            <a:avLst/>
          </a:prstGeom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1F29DC40-F09D-E75E-3FF0-09B4E0852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98" y="1240136"/>
            <a:ext cx="8780902" cy="568091"/>
          </a:xfrm>
        </p:spPr>
        <p:txBody>
          <a:bodyPr>
            <a:noAutofit/>
          </a:bodyPr>
          <a:lstStyle/>
          <a:p>
            <a:pPr algn="l"/>
            <a:r>
              <a:rPr lang="es-ES" sz="2800" dirty="0">
                <a:latin typeface="Montserrat Medium" panose="00000600000000000000" pitchFamily="2" charset="0"/>
              </a:rPr>
              <a:t>Epigenética: El Puente Entre la Biología y el Entorno</a:t>
            </a:r>
            <a:endParaRPr lang="es-EC" sz="2800" dirty="0">
              <a:latin typeface="Montserrat Medium" panose="00000600000000000000" pitchFamily="2" charset="0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2909D1CE-ECDC-0039-4F03-19E8B0003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098" y="2179126"/>
            <a:ext cx="7161230" cy="1752600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es-EC" sz="2000" dirty="0">
                <a:solidFill>
                  <a:schemeClr val="tx1"/>
                </a:solidFill>
                <a:latin typeface="Montserrat Medium" panose="00000600000000000000" pitchFamily="2" charset="0"/>
              </a:rPr>
              <a:t>Director científico en </a:t>
            </a:r>
            <a:r>
              <a:rPr lang="es-EC" sz="2000" dirty="0" err="1">
                <a:solidFill>
                  <a:schemeClr val="tx1"/>
                </a:solidFill>
                <a:latin typeface="Montserrat Medium" panose="00000600000000000000" pitchFamily="2" charset="0"/>
              </a:rPr>
              <a:t>Biotecgen</a:t>
            </a:r>
            <a:r>
              <a:rPr lang="es-EC" sz="2000" dirty="0">
                <a:solidFill>
                  <a:schemeClr val="tx1"/>
                </a:solidFill>
                <a:latin typeface="Montserrat Medium" panose="00000600000000000000" pitchFamily="2" charset="0"/>
              </a:rPr>
              <a:t> Colombia</a:t>
            </a:r>
          </a:p>
        </p:txBody>
      </p:sp>
    </p:spTree>
    <p:extLst>
      <p:ext uri="{BB962C8B-B14F-4D97-AF65-F5344CB8AC3E}">
        <p14:creationId xmlns:p14="http://schemas.microsoft.com/office/powerpoint/2010/main" val="120802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3922C-49CE-02DB-4DB5-C4CFA0BB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>
            <a:extLst>
              <a:ext uri="{FF2B5EF4-FFF2-40B4-BE49-F238E27FC236}">
                <a16:creationId xmlns:a16="http://schemas.microsoft.com/office/drawing/2014/main" id="{1EC94563-84FE-2135-C2E7-FD7313E856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" y="-7063"/>
            <a:ext cx="9119125" cy="6863225"/>
          </a:xfrm>
          <a:prstGeom prst="rect">
            <a:avLst/>
          </a:prstGeom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9205B707-E88B-D409-9F1B-C479B756C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98" y="1240136"/>
            <a:ext cx="8780902" cy="568091"/>
          </a:xfrm>
        </p:spPr>
        <p:txBody>
          <a:bodyPr>
            <a:noAutofit/>
          </a:bodyPr>
          <a:lstStyle/>
          <a:p>
            <a:pPr algn="l"/>
            <a:r>
              <a:rPr lang="es-ES" sz="2800" dirty="0">
                <a:latin typeface="Montserrat Medium" panose="00000600000000000000" pitchFamily="2" charset="0"/>
              </a:rPr>
              <a:t>Aplicaciones Clínicas Reales Hoy</a:t>
            </a:r>
            <a:endParaRPr lang="es-EC" sz="2800" dirty="0">
              <a:latin typeface="Montserrat Medium" panose="00000600000000000000" pitchFamily="2" charset="0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7E9954C7-0A9D-D7E2-9697-EAAD59982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098" y="2179126"/>
            <a:ext cx="7161230" cy="1752600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es-EC" sz="2000" dirty="0">
                <a:solidFill>
                  <a:schemeClr val="tx1"/>
                </a:solidFill>
                <a:latin typeface="Montserrat Medium" panose="00000600000000000000" pitchFamily="2" charset="0"/>
              </a:rPr>
              <a:t>Director científico en </a:t>
            </a:r>
            <a:r>
              <a:rPr lang="es-EC" sz="2000" dirty="0" err="1">
                <a:solidFill>
                  <a:schemeClr val="tx1"/>
                </a:solidFill>
                <a:latin typeface="Montserrat Medium" panose="00000600000000000000" pitchFamily="2" charset="0"/>
              </a:rPr>
              <a:t>Biotecgen</a:t>
            </a:r>
            <a:r>
              <a:rPr lang="es-EC" sz="2000" dirty="0">
                <a:solidFill>
                  <a:schemeClr val="tx1"/>
                </a:solidFill>
                <a:latin typeface="Montserrat Medium" panose="00000600000000000000" pitchFamily="2" charset="0"/>
              </a:rPr>
              <a:t> Colombia</a:t>
            </a:r>
          </a:p>
        </p:txBody>
      </p:sp>
    </p:spTree>
    <p:extLst>
      <p:ext uri="{BB962C8B-B14F-4D97-AF65-F5344CB8AC3E}">
        <p14:creationId xmlns:p14="http://schemas.microsoft.com/office/powerpoint/2010/main" val="3110870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46B99-5800-FB1C-F1A5-5D9EC788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>
            <a:extLst>
              <a:ext uri="{FF2B5EF4-FFF2-40B4-BE49-F238E27FC236}">
                <a16:creationId xmlns:a16="http://schemas.microsoft.com/office/drawing/2014/main" id="{DFFDD5B5-3305-4C7E-B9F2-CB1A0CDD9D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" y="-7063"/>
            <a:ext cx="9119125" cy="6863225"/>
          </a:xfrm>
          <a:prstGeom prst="rect">
            <a:avLst/>
          </a:prstGeom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9D1B1D25-B91B-303A-6FC4-C3F334554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98" y="1240136"/>
            <a:ext cx="8780902" cy="568091"/>
          </a:xfrm>
        </p:spPr>
        <p:txBody>
          <a:bodyPr>
            <a:noAutofit/>
          </a:bodyPr>
          <a:lstStyle/>
          <a:p>
            <a:pPr algn="l"/>
            <a:r>
              <a:rPr lang="es-ES" sz="2800" dirty="0">
                <a:latin typeface="Montserrat Medium" panose="00000600000000000000" pitchFamily="2" charset="0"/>
              </a:rPr>
              <a:t>Hoja de ruta para aplicaciones clínicas</a:t>
            </a:r>
            <a:endParaRPr lang="es-EC" sz="2800" dirty="0">
              <a:latin typeface="Montserrat Medium" panose="00000600000000000000" pitchFamily="2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39A3308-A6A8-B3E2-8C77-08965871D2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7353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8AE31-34D8-D09D-FA18-0BD4688EB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>
            <a:extLst>
              <a:ext uri="{FF2B5EF4-FFF2-40B4-BE49-F238E27FC236}">
                <a16:creationId xmlns:a16="http://schemas.microsoft.com/office/drawing/2014/main" id="{D51109B3-11B8-EF07-99D3-690DF91F96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" y="-7063"/>
            <a:ext cx="9119125" cy="6863225"/>
          </a:xfrm>
          <a:prstGeom prst="rect">
            <a:avLst/>
          </a:prstGeom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E88C4735-4173-0580-00CD-1C94E24B1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98" y="1240136"/>
            <a:ext cx="8780902" cy="568091"/>
          </a:xfrm>
        </p:spPr>
        <p:txBody>
          <a:bodyPr>
            <a:noAutofit/>
          </a:bodyPr>
          <a:lstStyle/>
          <a:p>
            <a:pPr algn="l"/>
            <a:r>
              <a:rPr lang="es-ES" sz="2800" dirty="0">
                <a:latin typeface="Montserrat Medium" panose="00000600000000000000" pitchFamily="2" charset="0"/>
              </a:rPr>
              <a:t>El futuro de la traumatología deportiva es molecular</a:t>
            </a:r>
            <a:endParaRPr lang="es-EC" sz="2800" dirty="0">
              <a:latin typeface="Montserrat Medium" panose="000006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A2CDA94-79E1-F3DA-F691-CDD89D2097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0675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BBF8C-7B09-AA11-A829-9C5EE4CE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>
            <a:extLst>
              <a:ext uri="{FF2B5EF4-FFF2-40B4-BE49-F238E27FC236}">
                <a16:creationId xmlns:a16="http://schemas.microsoft.com/office/drawing/2014/main" id="{42567A24-9274-9928-D37A-C28C73857F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" y="-7063"/>
            <a:ext cx="9119125" cy="68632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9A4D23B-0007-94D8-2B28-BCFC1D7BE4B8}"/>
              </a:ext>
            </a:extLst>
          </p:cNvPr>
          <p:cNvSpPr txBox="1"/>
          <p:nvPr/>
        </p:nvSpPr>
        <p:spPr>
          <a:xfrm>
            <a:off x="922531" y="5375331"/>
            <a:ext cx="7294075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Montserrat Medium" panose="00000600000000000000" pitchFamily="2" charset="0"/>
              </a:rPr>
              <a:t>La variabilidad biológica individual tiene un sustrato molecular identificable y potencialmente modificable</a:t>
            </a:r>
            <a:endParaRPr lang="en-NZ" sz="2000" dirty="0"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76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EOT planill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SEOT planilla</Template>
  <TotalTime>427</TotalTime>
  <Words>205</Words>
  <Application>Microsoft Office PowerPoint</Application>
  <PresentationFormat>On-screen Show (4:3)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Montserrat Medium</vt:lpstr>
      <vt:lpstr>SEOT planilla</vt:lpstr>
      <vt:lpstr>Medicina de Precisión en lesiones deportivas: De la genómica a la clínica</vt:lpstr>
      <vt:lpstr>Conflicto de intereses</vt:lpstr>
      <vt:lpstr>PowerPoint Presentation</vt:lpstr>
      <vt:lpstr>Misma lesión deportiva, mismo protocolo: ¿por qué los resultados son distintos?</vt:lpstr>
      <vt:lpstr>¿Qué es medicina de precisión en el deporte?</vt:lpstr>
      <vt:lpstr>Genómica aplicada a lesiones deportivas</vt:lpstr>
      <vt:lpstr>Genómica aplicada a lesiones deportivas</vt:lpstr>
      <vt:lpstr>Epigenética: El Puente Entre la Biología y el Entorno</vt:lpstr>
      <vt:lpstr>Aplicaciones Clínicas Reales Hoy</vt:lpstr>
      <vt:lpstr>Hoja de ruta para aplicaciones clínicas</vt:lpstr>
      <vt:lpstr>El futuro de la traumatología deportiva es molecular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Gabriel Oscar Montesinos Peñaherrera</dc:creator>
  <cp:lastModifiedBy>Oscar Ortega-Recalde</cp:lastModifiedBy>
  <cp:revision>4</cp:revision>
  <dcterms:created xsi:type="dcterms:W3CDTF">2026-08-20T18:06:51Z</dcterms:created>
  <dcterms:modified xsi:type="dcterms:W3CDTF">2026-10-04T13:47:10Z</dcterms:modified>
</cp:coreProperties>
</file>